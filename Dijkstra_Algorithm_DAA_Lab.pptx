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ef999c6-e4fb-b6be-fc53-d5b2749d408b}">
          <p14:sldIdLst>
            <p14:sldId id="256"/>
            <p14:sldId id="257"/>
          </p14:sldIdLst>
        </p14:section>
        <p14:section name="Algorithm" id="{6aa831e1-f0fe-f201-8095-7670efc71121}">
          <p14:sldIdLst>
            <p14:sldId id="258"/>
          </p14:sldIdLst>
        </p14:section>
        <p14:section name="Example" id="{40370abb-04ca-8121-9747-a1aab8790f46}">
          <p14:sldIdLst>
            <p14:sldId id="259"/>
            <p14:sldId id="260"/>
          </p14:sldIdLst>
        </p14:section>
        <p14:section name="Analysis" id="{9560b0bb-affb-7f3e-6ecd-b52472ff9fd8}">
          <p14:sldIdLst>
            <p14:sldId id="261"/>
            <p14:sldId id="262"/>
          </p14:sldIdLst>
        </p14:section>
        <p14:section name="Wrap-up" id="{b1ac1d30-dbea-95ac-4ab1-2a4f6467b5d3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[0:00-0:12] Hello everyone. Today's DAA lab topic is Dijkstra's algorithm, the classic method for finding the shortest paths from one source vertex to every other vertex in a weighted 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[0:12-0:27] The problem: given a graph with non-negative edge weights, find the cheapest route from a source. It powers GPS navigation, network routing protocols like OSPF, flight planning, and pathfinding in games.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[0:27-0:45] The idea is greedy. Start with distance zero at the source and infinity everywhere else. Repeatedly pick the unvisited vertex with the smallest distance, and relax its edges: if going through it is shorter, update the neighbour.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[0:45-1:00] Here's our example graph: five vertices A to E, with A as the source. The final shortest distances are A zero, C two, B three, D eight, and E eleven, along the path A, C, B, D, 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[1:00-1:20] Let's trace it. Pick A: B becomes four and C becomes two. Pick C: B improves to three, D becomes ten, E becomes twelve. Pick B: D improves to eight. Pick D: E improves to eleven. Finally E is processed and we're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[1:20-1:38] Complexity depends on the priority queue. A simple array gives V squared. A binary heap gives V plus E times log V. A Fibonacci heap improves it further. One limit: negative edge weights break the algorithm, so use Bellman-Ford in that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[1:38-1:52] Here's the Python implementation using heapq as a min-heap. We pop the closest vertex, skip stale entries, relax its edges, and push any improved distances. The output matches our trace.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[1:52-2:00] To summarise: Dijkstra is greedy, a heap makes it efficient, and it needs non-negative weights.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47548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108960"/>
            <a:ext cx="4572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DAA Lab  |  Dijkstra's Algorithm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Dijkstra's Algorithm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1089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Single-source shortest path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Design and Analysis of Algorithms Lab</a:t>
            </a:r>
            <a:endParaRPr lang="en-US" sz="1600" dirty="0"/>
          </a:p>
        </p:txBody>
      </p:sp>
      <p:sp>
        <p:nvSpPr>
          <p:cNvPr id="4" name="Motif edge 1-2"/>
          <p:cNvSpPr/>
          <p:nvPr/>
        </p:nvSpPr>
        <p:spPr>
          <a:xfrm flipV="1">
            <a:off x="5943600" y="2103120"/>
            <a:ext cx="822960" cy="146304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5" name="Motif edge 2-3"/>
          <p:cNvSpPr/>
          <p:nvPr/>
        </p:nvSpPr>
        <p:spPr>
          <a:xfrm>
            <a:off x="6766560" y="2103120"/>
            <a:ext cx="457200" cy="164592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6" name="Motif edge 2-4"/>
          <p:cNvSpPr/>
          <p:nvPr/>
        </p:nvSpPr>
        <p:spPr>
          <a:xfrm>
            <a:off x="6766560" y="2103120"/>
            <a:ext cx="1371600" cy="45720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7" name="Motif edge 3-5"/>
          <p:cNvSpPr/>
          <p:nvPr/>
        </p:nvSpPr>
        <p:spPr>
          <a:xfrm>
            <a:off x="7223760" y="3749040"/>
            <a:ext cx="1005840" cy="36576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8" name="Motif route 1-3"/>
          <p:cNvSpPr/>
          <p:nvPr/>
        </p:nvSpPr>
        <p:spPr>
          <a:xfrm>
            <a:off x="5943600" y="3566160"/>
            <a:ext cx="1280160" cy="182880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</a:ln>
        </p:spPr>
      </p:sp>
      <p:sp>
        <p:nvSpPr>
          <p:cNvPr id="9" name="Motif route 3-4"/>
          <p:cNvSpPr/>
          <p:nvPr/>
        </p:nvSpPr>
        <p:spPr>
          <a:xfrm flipV="1">
            <a:off x="7223760" y="2560320"/>
            <a:ext cx="914400" cy="1188720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</a:ln>
        </p:spPr>
      </p:sp>
      <p:sp>
        <p:nvSpPr>
          <p:cNvPr id="10" name="Motif node 1"/>
          <p:cNvSpPr/>
          <p:nvPr/>
        </p:nvSpPr>
        <p:spPr>
          <a:xfrm>
            <a:off x="5687568" y="3310128"/>
            <a:ext cx="512064" cy="51206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11" name="Motif node 2"/>
          <p:cNvSpPr/>
          <p:nvPr/>
        </p:nvSpPr>
        <p:spPr>
          <a:xfrm>
            <a:off x="6510528" y="1847088"/>
            <a:ext cx="512064" cy="512064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12" name="Motif node 3"/>
          <p:cNvSpPr/>
          <p:nvPr/>
        </p:nvSpPr>
        <p:spPr>
          <a:xfrm>
            <a:off x="6967728" y="3493008"/>
            <a:ext cx="512064" cy="51206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13" name="Motif node 4"/>
          <p:cNvSpPr/>
          <p:nvPr/>
        </p:nvSpPr>
        <p:spPr>
          <a:xfrm>
            <a:off x="7882128" y="2304288"/>
            <a:ext cx="512064" cy="51206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14" name="Motif node 5"/>
          <p:cNvSpPr/>
          <p:nvPr/>
        </p:nvSpPr>
        <p:spPr>
          <a:xfrm>
            <a:off x="7973568" y="3858768"/>
            <a:ext cx="512064" cy="512064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Problem &amp; Applications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The problem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Given a weighted graph G = (V, E) with non-negative edge weights and a source vertex s, find the cheapest path from s to every other vertex.</a:t>
            </a:r>
            <a:endParaRPr lang="en-US" sz="1600" dirty="0"/>
          </a:p>
        </p:txBody>
      </p:sp>
      <p:sp>
        <p:nvSpPr>
          <p:cNvPr id="5" name="IO card"/>
          <p:cNvSpPr/>
          <p:nvPr/>
        </p:nvSpPr>
        <p:spPr>
          <a:xfrm>
            <a:off x="548640" y="3291840"/>
            <a:ext cx="365760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38328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Input: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G(V, E), weights ≥ 0, source 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Output: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dist[v] for every vertex v</a:t>
            </a:r>
            <a:endParaRPr lang="en-US" sz="1400" dirty="0"/>
          </a:p>
        </p:txBody>
      </p:sp>
      <p:sp>
        <p:nvSpPr>
          <p:cNvPr id="7" name="App card GPS &amp; maps"/>
          <p:cNvSpPr/>
          <p:nvPr/>
        </p:nvSpPr>
        <p:spPr>
          <a:xfrm>
            <a:off x="4572000" y="1371600"/>
            <a:ext cx="19202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App icon bg GPS &amp; maps"/>
          <p:cNvSpPr/>
          <p:nvPr/>
        </p:nvSpPr>
        <p:spPr>
          <a:xfrm>
            <a:off x="4754880" y="15544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0" descr="GPS &amp; ma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691640"/>
            <a:ext cx="292608" cy="29260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754880" y="22402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GPS &amp; maps</a:t>
            </a:r>
            <a:endParaRPr lang="en-US" sz="1400" dirty="0"/>
          </a:p>
        </p:txBody>
      </p:sp>
      <p:sp>
        <p:nvSpPr>
          <p:cNvPr id="11" name="App card Network routing"/>
          <p:cNvSpPr/>
          <p:nvPr/>
        </p:nvSpPr>
        <p:spPr>
          <a:xfrm>
            <a:off x="6675120" y="1371600"/>
            <a:ext cx="19202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App icon bg Network routing"/>
          <p:cNvSpPr/>
          <p:nvPr/>
        </p:nvSpPr>
        <p:spPr>
          <a:xfrm>
            <a:off x="6858000" y="15544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Image 1" descr="Network rout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69164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858000" y="22402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Network routing</a:t>
            </a:r>
            <a:endParaRPr lang="en-US" sz="1400" dirty="0"/>
          </a:p>
        </p:txBody>
      </p:sp>
      <p:sp>
        <p:nvSpPr>
          <p:cNvPr id="15" name="App card Flight planning"/>
          <p:cNvSpPr/>
          <p:nvPr/>
        </p:nvSpPr>
        <p:spPr>
          <a:xfrm>
            <a:off x="4572000" y="2971800"/>
            <a:ext cx="19202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App icon bg Flight planning"/>
          <p:cNvSpPr/>
          <p:nvPr/>
        </p:nvSpPr>
        <p:spPr>
          <a:xfrm>
            <a:off x="4754880" y="31546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mage 2" descr="Flight plann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329184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754880" y="3840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Flight planning</a:t>
            </a:r>
            <a:endParaRPr lang="en-US" sz="1400" dirty="0"/>
          </a:p>
        </p:txBody>
      </p:sp>
      <p:sp>
        <p:nvSpPr>
          <p:cNvPr id="19" name="App card Game pathfinding"/>
          <p:cNvSpPr/>
          <p:nvPr/>
        </p:nvSpPr>
        <p:spPr>
          <a:xfrm>
            <a:off x="6675120" y="2971800"/>
            <a:ext cx="19202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App icon bg Game pathfinding"/>
          <p:cNvSpPr/>
          <p:nvPr/>
        </p:nvSpPr>
        <p:spPr>
          <a:xfrm>
            <a:off x="6858000" y="31546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mage 3" descr="Game pathfind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329184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858000" y="3840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Game pathfinding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Greedy Choice + Relaxation</a:t>
            </a:r>
            <a:endParaRPr lang="en-US" sz="3600" dirty="0"/>
          </a:p>
        </p:txBody>
      </p:sp>
      <p:sp>
        <p:nvSpPr>
          <p:cNvPr id="3" name="Step badge 1"/>
          <p:cNvSpPr/>
          <p:nvPr/>
        </p:nvSpPr>
        <p:spPr>
          <a:xfrm>
            <a:off x="548640" y="1380744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807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25880"/>
            <a:ext cx="3931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Set dist[s] = 0 and dist[v] = ∞ for all others</a:t>
            </a:r>
            <a:endParaRPr lang="en-US" sz="1500" dirty="0"/>
          </a:p>
        </p:txBody>
      </p:sp>
      <p:sp>
        <p:nvSpPr>
          <p:cNvPr id="6" name="Step badge 2"/>
          <p:cNvSpPr/>
          <p:nvPr/>
        </p:nvSpPr>
        <p:spPr>
          <a:xfrm>
            <a:off x="548640" y="2020824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020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65960"/>
            <a:ext cx="3931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Pick the unvisited vertex u with smallest dist</a:t>
            </a:r>
            <a:endParaRPr lang="en-US" sz="1500" dirty="0"/>
          </a:p>
        </p:txBody>
      </p:sp>
      <p:sp>
        <p:nvSpPr>
          <p:cNvPr id="9" name="Step badge 3"/>
          <p:cNvSpPr/>
          <p:nvPr/>
        </p:nvSpPr>
        <p:spPr>
          <a:xfrm>
            <a:off x="548640" y="2660904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660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606040"/>
            <a:ext cx="3931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Relax every edge (u, v) leaving u</a:t>
            </a:r>
            <a:endParaRPr lang="en-US" sz="1500" dirty="0"/>
          </a:p>
        </p:txBody>
      </p:sp>
      <p:sp>
        <p:nvSpPr>
          <p:cNvPr id="12" name="Step badge 4"/>
          <p:cNvSpPr/>
          <p:nvPr/>
        </p:nvSpPr>
        <p:spPr>
          <a:xfrm>
            <a:off x="548640" y="3300984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3009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246120"/>
            <a:ext cx="3931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Mark u visited — its distance is now final</a:t>
            </a:r>
            <a:endParaRPr lang="en-US" sz="1500" dirty="0"/>
          </a:p>
        </p:txBody>
      </p:sp>
      <p:sp>
        <p:nvSpPr>
          <p:cNvPr id="15" name="Step badge 5"/>
          <p:cNvSpPr/>
          <p:nvPr/>
        </p:nvSpPr>
        <p:spPr>
          <a:xfrm>
            <a:off x="548640" y="3941064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9410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886200"/>
            <a:ext cx="3931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Repeat until all vertices are visited</a:t>
            </a:r>
            <a:endParaRPr lang="en-US" sz="1500" dirty="0"/>
          </a:p>
        </p:txBody>
      </p:sp>
      <p:sp>
        <p:nvSpPr>
          <p:cNvPr id="18" name="Relaxation card"/>
          <p:cNvSpPr/>
          <p:nvPr/>
        </p:nvSpPr>
        <p:spPr>
          <a:xfrm>
            <a:off x="5394960" y="1325880"/>
            <a:ext cx="3200400" cy="3108960"/>
          </a:xfrm>
          <a:prstGeom prst="roundRect">
            <a:avLst>
              <a:gd name="adj" fmla="val 294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2356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RELAXATION</a:t>
            </a:r>
            <a:endParaRPr lang="en-US" sz="1200" dirty="0"/>
          </a:p>
        </p:txBody>
      </p:sp>
      <p:sp>
        <p:nvSpPr>
          <p:cNvPr id="20" name="Mini edge"/>
          <p:cNvSpPr/>
          <p:nvPr/>
        </p:nvSpPr>
        <p:spPr>
          <a:xfrm>
            <a:off x="5989320" y="2331720"/>
            <a:ext cx="1463040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</a:ln>
        </p:spPr>
      </p:sp>
      <p:sp>
        <p:nvSpPr>
          <p:cNvPr id="21" name="Mini u"/>
          <p:cNvSpPr/>
          <p:nvPr/>
        </p:nvSpPr>
        <p:spPr>
          <a:xfrm>
            <a:off x="5669280" y="21031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Mini v"/>
          <p:cNvSpPr/>
          <p:nvPr/>
        </p:nvSpPr>
        <p:spPr>
          <a:xfrm>
            <a:off x="7315200" y="21031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1920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62356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if dist[u] + w &lt; dist[v]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62356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dist[v] = dist[u] + w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623560" y="3794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 shorter route to v through u was found.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Worked Example</a:t>
            </a:r>
            <a:endParaRPr lang="en-US" sz="3600" dirty="0"/>
          </a:p>
        </p:txBody>
      </p:sp>
      <p:sp>
        <p:nvSpPr>
          <p:cNvPr id="3" name="Edge A-B"/>
          <p:cNvSpPr/>
          <p:nvPr/>
        </p:nvSpPr>
        <p:spPr>
          <a:xfrm flipV="1">
            <a:off x="1005840" y="1828800"/>
            <a:ext cx="1737360" cy="10972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4" name="Edge A-C"/>
          <p:cNvSpPr/>
          <p:nvPr/>
        </p:nvSpPr>
        <p:spPr>
          <a:xfrm>
            <a:off x="1005840" y="2926080"/>
            <a:ext cx="1737360" cy="1097280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</a:ln>
        </p:spPr>
      </p:sp>
      <p:sp>
        <p:nvSpPr>
          <p:cNvPr id="5" name="Edge C-B"/>
          <p:cNvSpPr/>
          <p:nvPr/>
        </p:nvSpPr>
        <p:spPr>
          <a:xfrm>
            <a:off x="2743200" y="1828800"/>
            <a:ext cx="0" cy="2194560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</a:ln>
        </p:spPr>
      </p:sp>
      <p:sp>
        <p:nvSpPr>
          <p:cNvPr id="6" name="Edge B-D"/>
          <p:cNvSpPr/>
          <p:nvPr/>
        </p:nvSpPr>
        <p:spPr>
          <a:xfrm>
            <a:off x="2743200" y="1828800"/>
            <a:ext cx="1737360" cy="548640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</a:ln>
        </p:spPr>
      </p:sp>
      <p:sp>
        <p:nvSpPr>
          <p:cNvPr id="7" name="Edge C-D"/>
          <p:cNvSpPr/>
          <p:nvPr/>
        </p:nvSpPr>
        <p:spPr>
          <a:xfrm flipV="1">
            <a:off x="2743200" y="2377440"/>
            <a:ext cx="1737360" cy="164592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8" name="Edge D-E"/>
          <p:cNvSpPr/>
          <p:nvPr/>
        </p:nvSpPr>
        <p:spPr>
          <a:xfrm>
            <a:off x="4480560" y="2377440"/>
            <a:ext cx="0" cy="1645920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</a:ln>
        </p:spPr>
      </p:sp>
      <p:sp>
        <p:nvSpPr>
          <p:cNvPr id="9" name="Edge C-E"/>
          <p:cNvSpPr/>
          <p:nvPr/>
        </p:nvSpPr>
        <p:spPr>
          <a:xfrm>
            <a:off x="2743200" y="4023360"/>
            <a:ext cx="17373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0" name="Weight bg A-B"/>
          <p:cNvSpPr/>
          <p:nvPr/>
        </p:nvSpPr>
        <p:spPr>
          <a:xfrm>
            <a:off x="1700784" y="2249424"/>
            <a:ext cx="347472" cy="256032"/>
          </a:xfrm>
          <a:prstGeom prst="roundRect">
            <a:avLst>
              <a:gd name="adj" fmla="val 2142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700784" y="224942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12" name="Weight bg A-C"/>
          <p:cNvSpPr/>
          <p:nvPr/>
        </p:nvSpPr>
        <p:spPr>
          <a:xfrm>
            <a:off x="1700784" y="3346704"/>
            <a:ext cx="347472" cy="256032"/>
          </a:xfrm>
          <a:prstGeom prst="roundRect">
            <a:avLst>
              <a:gd name="adj" fmla="val 2142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700784" y="334670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Weight bg C-B"/>
          <p:cNvSpPr/>
          <p:nvPr/>
        </p:nvSpPr>
        <p:spPr>
          <a:xfrm>
            <a:off x="2569464" y="2798064"/>
            <a:ext cx="347472" cy="256032"/>
          </a:xfrm>
          <a:prstGeom prst="roundRect">
            <a:avLst>
              <a:gd name="adj" fmla="val 2142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569464" y="279806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16" name="Weight bg B-D"/>
          <p:cNvSpPr/>
          <p:nvPr/>
        </p:nvSpPr>
        <p:spPr>
          <a:xfrm>
            <a:off x="3438144" y="1975104"/>
            <a:ext cx="347472" cy="256032"/>
          </a:xfrm>
          <a:prstGeom prst="roundRect">
            <a:avLst>
              <a:gd name="adj" fmla="val 2142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38144" y="197510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18" name="Weight bg C-D"/>
          <p:cNvSpPr/>
          <p:nvPr/>
        </p:nvSpPr>
        <p:spPr>
          <a:xfrm>
            <a:off x="3438144" y="3072384"/>
            <a:ext cx="347472" cy="256032"/>
          </a:xfrm>
          <a:prstGeom prst="roundRect">
            <a:avLst>
              <a:gd name="adj" fmla="val 2142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38144" y="307238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8</a:t>
            </a:r>
            <a:endParaRPr lang="en-US" sz="1200" dirty="0"/>
          </a:p>
        </p:txBody>
      </p:sp>
      <p:sp>
        <p:nvSpPr>
          <p:cNvPr id="20" name="Weight bg D-E"/>
          <p:cNvSpPr/>
          <p:nvPr/>
        </p:nvSpPr>
        <p:spPr>
          <a:xfrm>
            <a:off x="4306824" y="3072384"/>
            <a:ext cx="347472" cy="256032"/>
          </a:xfrm>
          <a:prstGeom prst="roundRect">
            <a:avLst>
              <a:gd name="adj" fmla="val 2142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06824" y="307238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Weight bg C-E"/>
          <p:cNvSpPr/>
          <p:nvPr/>
        </p:nvSpPr>
        <p:spPr>
          <a:xfrm>
            <a:off x="3438144" y="3895344"/>
            <a:ext cx="347472" cy="256032"/>
          </a:xfrm>
          <a:prstGeom prst="roundRect">
            <a:avLst>
              <a:gd name="adj" fmla="val 2142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38144" y="389534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10</a:t>
            </a:r>
            <a:endParaRPr lang="en-US" sz="1200" dirty="0"/>
          </a:p>
        </p:txBody>
      </p:sp>
      <p:sp>
        <p:nvSpPr>
          <p:cNvPr id="24" name="Node A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</a:t>
            </a:r>
            <a:endParaRPr lang="en-US" sz="1600" dirty="0"/>
          </a:p>
        </p:txBody>
      </p:sp>
      <p:sp>
        <p:nvSpPr>
          <p:cNvPr id="26" name="Node B"/>
          <p:cNvSpPr/>
          <p:nvPr/>
        </p:nvSpPr>
        <p:spPr>
          <a:xfrm>
            <a:off x="2468880" y="1554480"/>
            <a:ext cx="548640" cy="54864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4688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28" name="Node C"/>
          <p:cNvSpPr/>
          <p:nvPr/>
        </p:nvSpPr>
        <p:spPr>
          <a:xfrm>
            <a:off x="2468880" y="3749040"/>
            <a:ext cx="548640" cy="54864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46888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30" name="Node D"/>
          <p:cNvSpPr/>
          <p:nvPr/>
        </p:nvSpPr>
        <p:spPr>
          <a:xfrm>
            <a:off x="4206240" y="2103120"/>
            <a:ext cx="548640" cy="54864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20624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32" name="Node E"/>
          <p:cNvSpPr/>
          <p:nvPr/>
        </p:nvSpPr>
        <p:spPr>
          <a:xfrm>
            <a:off x="4206240" y="3749040"/>
            <a:ext cx="548640" cy="54864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20624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" y="32461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source</a:t>
            </a:r>
            <a:endParaRPr lang="en-US" sz="1100" dirty="0"/>
          </a:p>
        </p:txBody>
      </p:sp>
      <p:sp>
        <p:nvSpPr>
          <p:cNvPr id="35" name="Result panel"/>
          <p:cNvSpPr/>
          <p:nvPr/>
        </p:nvSpPr>
        <p:spPr>
          <a:xfrm>
            <a:off x="5669280" y="1325880"/>
            <a:ext cx="2926080" cy="31546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89788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Shortest distance from A</a:t>
            </a:r>
            <a:endParaRPr lang="en-US" sz="1400" dirty="0"/>
          </a:p>
        </p:txBody>
      </p:sp>
      <p:sp>
        <p:nvSpPr>
          <p:cNvPr id="37" name="Result chip A"/>
          <p:cNvSpPr/>
          <p:nvPr/>
        </p:nvSpPr>
        <p:spPr>
          <a:xfrm>
            <a:off x="5897880" y="187452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89788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355080" y="18745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= 0</a:t>
            </a:r>
            <a:endParaRPr lang="en-US" sz="1500" dirty="0"/>
          </a:p>
        </p:txBody>
      </p:sp>
      <p:sp>
        <p:nvSpPr>
          <p:cNvPr id="40" name="Result chip C"/>
          <p:cNvSpPr/>
          <p:nvPr/>
        </p:nvSpPr>
        <p:spPr>
          <a:xfrm>
            <a:off x="5897880" y="225856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897880" y="2258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355080" y="22585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= 2</a:t>
            </a:r>
            <a:endParaRPr lang="en-US" sz="1500" dirty="0"/>
          </a:p>
        </p:txBody>
      </p:sp>
      <p:sp>
        <p:nvSpPr>
          <p:cNvPr id="43" name="Result chip B"/>
          <p:cNvSpPr/>
          <p:nvPr/>
        </p:nvSpPr>
        <p:spPr>
          <a:xfrm>
            <a:off x="5897880" y="2642616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897880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355080" y="26426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= 3</a:t>
            </a:r>
            <a:endParaRPr lang="en-US" sz="1500" dirty="0"/>
          </a:p>
        </p:txBody>
      </p:sp>
      <p:sp>
        <p:nvSpPr>
          <p:cNvPr id="46" name="Result chip D"/>
          <p:cNvSpPr/>
          <p:nvPr/>
        </p:nvSpPr>
        <p:spPr>
          <a:xfrm>
            <a:off x="5897880" y="3026664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897880" y="3026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6355080" y="30266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= 8</a:t>
            </a:r>
            <a:endParaRPr lang="en-US" sz="1500" dirty="0"/>
          </a:p>
        </p:txBody>
      </p:sp>
      <p:sp>
        <p:nvSpPr>
          <p:cNvPr id="49" name="Result chip E"/>
          <p:cNvSpPr/>
          <p:nvPr/>
        </p:nvSpPr>
        <p:spPr>
          <a:xfrm>
            <a:off x="5897880" y="341071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897880" y="34107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355080" y="34107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= 11</a:t>
            </a:r>
            <a:endParaRPr lang="en-US" sz="1500" dirty="0"/>
          </a:p>
        </p:txBody>
      </p:sp>
      <p:sp>
        <p:nvSpPr>
          <p:cNvPr id="52" name="Text 50"/>
          <p:cNvSpPr txBox="1"/>
          <p:nvPr/>
        </p:nvSpPr>
        <p:spPr>
          <a:xfrm>
            <a:off x="5897880" y="3840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Path to E: </a:t>
            </a:r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→ C → B → D → 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Total cost 11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Step-by-Step Trace</a:t>
            </a:r>
            <a:endParaRPr lang="en-US" sz="3600" dirty="0"/>
          </a:p>
        </p:txBody>
      </p:sp>
      <p:graphicFrame>
        <p:nvGraphicFramePr>
          <p:cNvPr id="6" name="Trac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828800"/>
                <a:gridCol w="1060704"/>
                <a:gridCol w="1060704"/>
                <a:gridCol w="1060704"/>
                <a:gridCol w="1060704"/>
                <a:gridCol w="1060704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Step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Vertex picked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d[A]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d[B]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d[C]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d[D]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d[E]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Init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Legend swatch"/>
          <p:cNvSpPr/>
          <p:nvPr/>
        </p:nvSpPr>
        <p:spPr>
          <a:xfrm>
            <a:off x="548640" y="4206240"/>
            <a:ext cx="274320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60120" y="4160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Distance improved by relaxation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937760" y="4160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Extraction order: A, C, B, D, 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Complexity &amp; Limitations</a:t>
            </a:r>
            <a:endParaRPr lang="en-US" sz="3600" dirty="0"/>
          </a:p>
        </p:txBody>
      </p:sp>
      <p:sp>
        <p:nvSpPr>
          <p:cNvPr id="3" name="Complexity card 1"/>
          <p:cNvSpPr/>
          <p:nvPr/>
        </p:nvSpPr>
        <p:spPr>
          <a:xfrm>
            <a:off x="548640" y="1325880"/>
            <a:ext cx="256032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Array / linear scan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O(V²)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Simple; good for dense graphs</a:t>
            </a:r>
            <a:endParaRPr lang="en-US" sz="1300" dirty="0"/>
          </a:p>
        </p:txBody>
      </p:sp>
      <p:sp>
        <p:nvSpPr>
          <p:cNvPr id="7" name="Complexity card 2"/>
          <p:cNvSpPr/>
          <p:nvPr/>
        </p:nvSpPr>
        <p:spPr>
          <a:xfrm>
            <a:off x="3291840" y="1325880"/>
            <a:ext cx="2560320" cy="1783080"/>
          </a:xfrm>
          <a:prstGeom prst="roundRect">
            <a:avLst>
              <a:gd name="adj" fmla="val 5128"/>
            </a:avLst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463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Binary min-heap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874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O((V+E) log V)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Standard choice in practice</a:t>
            </a:r>
            <a:endParaRPr lang="en-US" sz="1300" dirty="0"/>
          </a:p>
        </p:txBody>
      </p:sp>
      <p:sp>
        <p:nvSpPr>
          <p:cNvPr id="11" name="Complexity card 3"/>
          <p:cNvSpPr/>
          <p:nvPr/>
        </p:nvSpPr>
        <p:spPr>
          <a:xfrm>
            <a:off x="6035040" y="1325880"/>
            <a:ext cx="256032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463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Fibonacci heap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874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O(E + V log V)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Best bound in theory</a:t>
            </a:r>
            <a:endParaRPr lang="en-US" sz="1300" dirty="0"/>
          </a:p>
        </p:txBody>
      </p:sp>
      <p:sp>
        <p:nvSpPr>
          <p:cNvPr id="15" name="Warning icon bg"/>
          <p:cNvSpPr/>
          <p:nvPr/>
        </p:nvSpPr>
        <p:spPr>
          <a:xfrm>
            <a:off x="548640" y="34290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0" descr="Warn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566160"/>
            <a:ext cx="274320" cy="27432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280160" y="33375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Limitation: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fails with negative edge weights — use Bellman–Ford instead.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Space: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O(V + E) for the graph, O(V) for distances.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Python Implementation</a:t>
            </a:r>
            <a:endParaRPr lang="en-US" sz="3600" dirty="0"/>
          </a:p>
        </p:txBody>
      </p:sp>
      <p:sp>
        <p:nvSpPr>
          <p:cNvPr id="3" name="Code card"/>
          <p:cNvSpPr/>
          <p:nvPr/>
        </p:nvSpPr>
        <p:spPr>
          <a:xfrm>
            <a:off x="548640" y="1280160"/>
            <a:ext cx="5486400" cy="3246120"/>
          </a:xfrm>
          <a:prstGeom prst="roundRect">
            <a:avLst>
              <a:gd name="adj" fmla="val 28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51206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heapq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dijkstra(graph, src):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 = {v: float('inf') for v in graph}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dist[src] =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pq = [(0, src)]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pq: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d, u = heapq.heappop(pq)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d &gt; dist[u]: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continue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v, w in graph[u]: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d + w &lt; dist[v]: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dist[v] = d + 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heapq.heappush(pq, (dist[v], v))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dist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Output for our graph</a:t>
            </a:r>
            <a:endParaRPr lang="en-US" sz="1400" dirty="0"/>
          </a:p>
        </p:txBody>
      </p:sp>
      <p:sp>
        <p:nvSpPr>
          <p:cNvPr id="6" name="Output card"/>
          <p:cNvSpPr/>
          <p:nvPr/>
        </p:nvSpPr>
        <p:spPr>
          <a:xfrm>
            <a:off x="6309360" y="1645920"/>
            <a:ext cx="228600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6916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{'A': 0, 'B': 3,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'C': 2, 'D': 8,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'E': 11}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92608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Heap gives the closest vertex first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Stale heap entries are skipped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Runs in O((V+E) log V)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3" name="Takeaway icon bg 1"/>
          <p:cNvSpPr/>
          <p:nvPr/>
        </p:nvSpPr>
        <p:spPr>
          <a:xfrm>
            <a:off x="548640" y="14173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mage 0" descr="Greedy by desig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572768"/>
            <a:ext cx="283464" cy="2834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32588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Greedy by design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170992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Always finalise the closest unvisited vertex, then relax its edges.</a:t>
            </a:r>
            <a:endParaRPr lang="en-US" sz="1400" dirty="0"/>
          </a:p>
        </p:txBody>
      </p:sp>
      <p:sp>
        <p:nvSpPr>
          <p:cNvPr id="7" name="Takeaway icon bg 2"/>
          <p:cNvSpPr/>
          <p:nvPr/>
        </p:nvSpPr>
        <p:spPr>
          <a:xfrm>
            <a:off x="548640" y="23774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1" descr="A heap makes it fa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2532888"/>
            <a:ext cx="283464" cy="28346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228600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 heap makes it fast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371600" y="267004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Binary heap gives O((V + E) log V) instead of O(V²).</a:t>
            </a:r>
            <a:endParaRPr lang="en-US" sz="1400" dirty="0"/>
          </a:p>
        </p:txBody>
      </p:sp>
      <p:sp>
        <p:nvSpPr>
          <p:cNvPr id="11" name="Takeaway icon bg 3"/>
          <p:cNvSpPr/>
          <p:nvPr/>
        </p:nvSpPr>
        <p:spPr>
          <a:xfrm>
            <a:off x="548640" y="33375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2" descr="Non-negative weights on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493008"/>
            <a:ext cx="283464" cy="28346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71600" y="32461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Non-negative weights only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371600" y="363016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With negative edges, use Bellman–Ford instead.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Thank you  |  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ute Map">
  <a:themeElements>
    <a:clrScheme name="Route Map">
      <a:dk1>
        <a:srgbClr val="13222B"/>
      </a:dk1>
      <a:lt1>
        <a:srgbClr val="FFFFFF"/>
      </a:lt1>
      <a:dk2>
        <a:srgbClr val="0B2B3A"/>
      </a:dk2>
      <a:lt2>
        <a:srgbClr val="EAF1F4"/>
      </a:lt2>
      <a:accent1>
        <a:srgbClr val="F5A524"/>
      </a:accent1>
      <a:accent2>
        <a:srgbClr val="1F7A8C"/>
      </a:accent2>
      <a:accent3>
        <a:srgbClr val="5FB3C4"/>
      </a:accent3>
      <a:accent4>
        <a:srgbClr val="E4572E"/>
      </a:accent4>
      <a:accent5>
        <a:srgbClr val="56788A"/>
      </a:accent5>
      <a:accent6>
        <a:srgbClr val="2E9E6B"/>
      </a:accent6>
      <a:hlink>
        <a:srgbClr val="1F7A8C"/>
      </a:hlink>
      <a:folHlink>
        <a:srgbClr val="56788A"/>
      </a:folHlink>
    </a:clrScheme>
    <a:fontScheme name="Route Ma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Dijkstra's Algorithm - DAA Lab</dc:title>
  <dc:subject>PptxGenJS Presentation</dc:subject>
  <dc:creator>PptxGenJS</dc:creator>
  <cp:lastModifiedBy>PptxGenJS</cp:lastModifiedBy>
  <cp:revision>1</cp:revision>
  <dcterms:created xsi:type="dcterms:W3CDTF">2026-10-19T13:27:45Z</dcterms:created>
  <dcterms:modified xsi:type="dcterms:W3CDTF">2026-10-19T13:27:45Z</dcterms:modified>
</cp:coreProperties>
</file>